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6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88B64F-9D37-46AF-823B-DCCE5287287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EF3185-B401-4267-819A-4306D58DC994}">
      <dgm:prSet/>
      <dgm:spPr/>
      <dgm:t>
        <a:bodyPr/>
        <a:lstStyle/>
        <a:p>
          <a:r>
            <a:rPr lang="en-US"/>
            <a:t>Pager rotation assigns team members to respond to system alerts and incidents outside regular hours.</a:t>
          </a:r>
        </a:p>
      </dgm:t>
    </dgm:pt>
    <dgm:pt modelId="{7BC93055-05D9-4F0A-8E60-96E9764551A6}" type="parTrans" cxnId="{52DBC2C8-680B-4976-B41A-138A323F87F8}">
      <dgm:prSet/>
      <dgm:spPr/>
      <dgm:t>
        <a:bodyPr/>
        <a:lstStyle/>
        <a:p>
          <a:endParaRPr lang="en-US"/>
        </a:p>
      </dgm:t>
    </dgm:pt>
    <dgm:pt modelId="{CC3013F4-ABBA-4BC1-8BB2-E86FA48F395C}" type="sibTrans" cxnId="{52DBC2C8-680B-4976-B41A-138A323F87F8}">
      <dgm:prSet/>
      <dgm:spPr/>
      <dgm:t>
        <a:bodyPr/>
        <a:lstStyle/>
        <a:p>
          <a:endParaRPr lang="en-US"/>
        </a:p>
      </dgm:t>
    </dgm:pt>
    <dgm:pt modelId="{ADE8F204-2FE0-4509-AEA1-B761E6DD6DFB}">
      <dgm:prSet/>
      <dgm:spPr/>
      <dgm:t>
        <a:bodyPr/>
        <a:lstStyle/>
        <a:p>
          <a:r>
            <a:rPr lang="en-US"/>
            <a:t>It ensures 24/7 system monitoring, enabling fast issue resolution.</a:t>
          </a:r>
        </a:p>
      </dgm:t>
    </dgm:pt>
    <dgm:pt modelId="{490D0099-BC17-4D4A-B499-49D60872F090}" type="parTrans" cxnId="{59EEEAE0-100C-4440-911F-DDB8B3A31832}">
      <dgm:prSet/>
      <dgm:spPr/>
      <dgm:t>
        <a:bodyPr/>
        <a:lstStyle/>
        <a:p>
          <a:endParaRPr lang="en-US"/>
        </a:p>
      </dgm:t>
    </dgm:pt>
    <dgm:pt modelId="{EBA4C3BC-554E-4DF3-B2C5-55B7AC3FEFA7}" type="sibTrans" cxnId="{59EEEAE0-100C-4440-911F-DDB8B3A31832}">
      <dgm:prSet/>
      <dgm:spPr/>
      <dgm:t>
        <a:bodyPr/>
        <a:lstStyle/>
        <a:p>
          <a:endParaRPr lang="en-US"/>
        </a:p>
      </dgm:t>
    </dgm:pt>
    <dgm:pt modelId="{039118C3-3404-4361-9F9F-C164899076D1}">
      <dgm:prSet/>
      <dgm:spPr/>
      <dgm:t>
        <a:bodyPr/>
        <a:lstStyle/>
        <a:p>
          <a:r>
            <a:rPr lang="en-US"/>
            <a:t>Pager duties are critical in DevOps to maintain system reliability and customer satisfaction.</a:t>
          </a:r>
        </a:p>
      </dgm:t>
    </dgm:pt>
    <dgm:pt modelId="{4A602B35-965A-4433-A727-E0F3D9E56F4C}" type="parTrans" cxnId="{E075EBCB-E015-49A6-AA3E-7853886DCAB4}">
      <dgm:prSet/>
      <dgm:spPr/>
      <dgm:t>
        <a:bodyPr/>
        <a:lstStyle/>
        <a:p>
          <a:endParaRPr lang="en-US"/>
        </a:p>
      </dgm:t>
    </dgm:pt>
    <dgm:pt modelId="{00E52684-DD91-4CC2-A448-4142A8B36544}" type="sibTrans" cxnId="{E075EBCB-E015-49A6-AA3E-7853886DCAB4}">
      <dgm:prSet/>
      <dgm:spPr/>
      <dgm:t>
        <a:bodyPr/>
        <a:lstStyle/>
        <a:p>
          <a:endParaRPr lang="en-US"/>
        </a:p>
      </dgm:t>
    </dgm:pt>
    <dgm:pt modelId="{825FF122-FD05-422D-BBEE-109A3EF3872A}" type="pres">
      <dgm:prSet presAssocID="{5F88B64F-9D37-46AF-823B-DCCE52872876}" presName="linear" presStyleCnt="0">
        <dgm:presLayoutVars>
          <dgm:animLvl val="lvl"/>
          <dgm:resizeHandles val="exact"/>
        </dgm:presLayoutVars>
      </dgm:prSet>
      <dgm:spPr/>
    </dgm:pt>
    <dgm:pt modelId="{1B825841-B1A1-4A9A-87DB-B31C7C5F7667}" type="pres">
      <dgm:prSet presAssocID="{36EF3185-B401-4267-819A-4306D58DC9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FC4766-12CA-48BF-836A-4D834D3B623E}" type="pres">
      <dgm:prSet presAssocID="{CC3013F4-ABBA-4BC1-8BB2-E86FA48F395C}" presName="spacer" presStyleCnt="0"/>
      <dgm:spPr/>
    </dgm:pt>
    <dgm:pt modelId="{5A8F869A-C57A-4BB9-910A-91CD61A0CF6B}" type="pres">
      <dgm:prSet presAssocID="{ADE8F204-2FE0-4509-AEA1-B761E6DD6D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99E7454-C934-4696-96B9-D4E665DF3646}" type="pres">
      <dgm:prSet presAssocID="{EBA4C3BC-554E-4DF3-B2C5-55B7AC3FEFA7}" presName="spacer" presStyleCnt="0"/>
      <dgm:spPr/>
    </dgm:pt>
    <dgm:pt modelId="{9CEAB49A-DB70-490C-9D95-E3A671DBE8F1}" type="pres">
      <dgm:prSet presAssocID="{039118C3-3404-4361-9F9F-C164899076D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6406334-EBA9-48FD-A675-166EB75FECC2}" type="presOf" srcId="{039118C3-3404-4361-9F9F-C164899076D1}" destId="{9CEAB49A-DB70-490C-9D95-E3A671DBE8F1}" srcOrd="0" destOrd="0" presId="urn:microsoft.com/office/officeart/2005/8/layout/vList2"/>
    <dgm:cxn modelId="{8D482F4C-55AE-4583-BFBE-CCD532663990}" type="presOf" srcId="{5F88B64F-9D37-46AF-823B-DCCE52872876}" destId="{825FF122-FD05-422D-BBEE-109A3EF3872A}" srcOrd="0" destOrd="0" presId="urn:microsoft.com/office/officeart/2005/8/layout/vList2"/>
    <dgm:cxn modelId="{6F2C6580-2B6E-4A5B-91E2-81F1588D0A37}" type="presOf" srcId="{36EF3185-B401-4267-819A-4306D58DC994}" destId="{1B825841-B1A1-4A9A-87DB-B31C7C5F7667}" srcOrd="0" destOrd="0" presId="urn:microsoft.com/office/officeart/2005/8/layout/vList2"/>
    <dgm:cxn modelId="{B05267A1-8E3F-4078-A9EF-8C887E6A6960}" type="presOf" srcId="{ADE8F204-2FE0-4509-AEA1-B761E6DD6DFB}" destId="{5A8F869A-C57A-4BB9-910A-91CD61A0CF6B}" srcOrd="0" destOrd="0" presId="urn:microsoft.com/office/officeart/2005/8/layout/vList2"/>
    <dgm:cxn modelId="{52DBC2C8-680B-4976-B41A-138A323F87F8}" srcId="{5F88B64F-9D37-46AF-823B-DCCE52872876}" destId="{36EF3185-B401-4267-819A-4306D58DC994}" srcOrd="0" destOrd="0" parTransId="{7BC93055-05D9-4F0A-8E60-96E9764551A6}" sibTransId="{CC3013F4-ABBA-4BC1-8BB2-E86FA48F395C}"/>
    <dgm:cxn modelId="{E075EBCB-E015-49A6-AA3E-7853886DCAB4}" srcId="{5F88B64F-9D37-46AF-823B-DCCE52872876}" destId="{039118C3-3404-4361-9F9F-C164899076D1}" srcOrd="2" destOrd="0" parTransId="{4A602B35-965A-4433-A727-E0F3D9E56F4C}" sibTransId="{00E52684-DD91-4CC2-A448-4142A8B36544}"/>
    <dgm:cxn modelId="{59EEEAE0-100C-4440-911F-DDB8B3A31832}" srcId="{5F88B64F-9D37-46AF-823B-DCCE52872876}" destId="{ADE8F204-2FE0-4509-AEA1-B761E6DD6DFB}" srcOrd="1" destOrd="0" parTransId="{490D0099-BC17-4D4A-B499-49D60872F090}" sibTransId="{EBA4C3BC-554E-4DF3-B2C5-55B7AC3FEFA7}"/>
    <dgm:cxn modelId="{EC42E30D-5112-4AED-B0F2-F25D7BA611F3}" type="presParOf" srcId="{825FF122-FD05-422D-BBEE-109A3EF3872A}" destId="{1B825841-B1A1-4A9A-87DB-B31C7C5F7667}" srcOrd="0" destOrd="0" presId="urn:microsoft.com/office/officeart/2005/8/layout/vList2"/>
    <dgm:cxn modelId="{8D45D40D-F505-4B9A-A0BE-3483F7FB5518}" type="presParOf" srcId="{825FF122-FD05-422D-BBEE-109A3EF3872A}" destId="{F6FC4766-12CA-48BF-836A-4D834D3B623E}" srcOrd="1" destOrd="0" presId="urn:microsoft.com/office/officeart/2005/8/layout/vList2"/>
    <dgm:cxn modelId="{38BD82C9-E34C-403B-9640-0D7F50A96D35}" type="presParOf" srcId="{825FF122-FD05-422D-BBEE-109A3EF3872A}" destId="{5A8F869A-C57A-4BB9-910A-91CD61A0CF6B}" srcOrd="2" destOrd="0" presId="urn:microsoft.com/office/officeart/2005/8/layout/vList2"/>
    <dgm:cxn modelId="{853FB824-97F2-4DFE-9F8A-81F3740BC279}" type="presParOf" srcId="{825FF122-FD05-422D-BBEE-109A3EF3872A}" destId="{F99E7454-C934-4696-96B9-D4E665DF3646}" srcOrd="3" destOrd="0" presId="urn:microsoft.com/office/officeart/2005/8/layout/vList2"/>
    <dgm:cxn modelId="{099D18CD-779D-4B73-948C-1C71E9B09124}" type="presParOf" srcId="{825FF122-FD05-422D-BBEE-109A3EF3872A}" destId="{9CEAB49A-DB70-490C-9D95-E3A671DBE8F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E0B97F-6EDF-49E6-AE5B-1757037D6CC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529E62-FBA0-4B79-8380-45E545A5CC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 the length and frequency of on-call shifts to reduce fatigue.</a:t>
          </a:r>
        </a:p>
      </dgm:t>
    </dgm:pt>
    <dgm:pt modelId="{DBB96101-C030-4925-86C8-84874E61A85A}" type="parTrans" cxnId="{79E4DAB2-3FCC-4F90-9AA0-B592CA9DCCA2}">
      <dgm:prSet/>
      <dgm:spPr/>
      <dgm:t>
        <a:bodyPr/>
        <a:lstStyle/>
        <a:p>
          <a:endParaRPr lang="en-US"/>
        </a:p>
      </dgm:t>
    </dgm:pt>
    <dgm:pt modelId="{BEEDBDA7-113E-4F01-9FEE-6334AD6636FA}" type="sibTrans" cxnId="{79E4DAB2-3FCC-4F90-9AA0-B592CA9DCC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78C1AD-3AC8-47A1-8969-B9D273AB6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compensations like time off or bonuses for on-call duties.</a:t>
          </a:r>
        </a:p>
      </dgm:t>
    </dgm:pt>
    <dgm:pt modelId="{51B22D05-0B61-4C32-A3CB-5A7C9585E5CD}" type="parTrans" cxnId="{BF739562-985E-47FD-8094-3F272E3F9623}">
      <dgm:prSet/>
      <dgm:spPr/>
      <dgm:t>
        <a:bodyPr/>
        <a:lstStyle/>
        <a:p>
          <a:endParaRPr lang="en-US"/>
        </a:p>
      </dgm:t>
    </dgm:pt>
    <dgm:pt modelId="{08011096-D2A3-41C8-9E0E-9B500E666881}" type="sibTrans" cxnId="{BF739562-985E-47FD-8094-3F272E3F96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A779C4-5B67-4BC3-A7DC-BD643825FD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alert filtering to avoid unnecessary or repeated notifications.</a:t>
          </a:r>
        </a:p>
      </dgm:t>
    </dgm:pt>
    <dgm:pt modelId="{5747FD74-1401-48AC-A35D-8C57BE31DE90}" type="parTrans" cxnId="{0133E0D6-9C88-42AB-898E-734034433DB9}">
      <dgm:prSet/>
      <dgm:spPr/>
      <dgm:t>
        <a:bodyPr/>
        <a:lstStyle/>
        <a:p>
          <a:endParaRPr lang="en-US"/>
        </a:p>
      </dgm:t>
    </dgm:pt>
    <dgm:pt modelId="{AD2B2EE0-E2C5-49AA-A0D1-31B6BBF6ACE4}" type="sibTrans" cxnId="{0133E0D6-9C88-42AB-898E-734034433DB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C0D7FC-CD5A-4B80-B0A7-55C6AF9076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Encourage team communication and provide support during stressful incidents.</a:t>
          </a:r>
        </a:p>
      </dgm:t>
    </dgm:pt>
    <dgm:pt modelId="{F39BD226-4BD0-42AD-B63E-2CAFDE2AC928}" type="parTrans" cxnId="{32CA84CD-B89A-4552-BB67-7B62B28160D9}">
      <dgm:prSet/>
      <dgm:spPr/>
      <dgm:t>
        <a:bodyPr/>
        <a:lstStyle/>
        <a:p>
          <a:endParaRPr lang="en-US"/>
        </a:p>
      </dgm:t>
    </dgm:pt>
    <dgm:pt modelId="{7D76CC64-683D-495F-AB20-09C58B295FD2}" type="sibTrans" cxnId="{32CA84CD-B89A-4552-BB67-7B62B28160D9}">
      <dgm:prSet/>
      <dgm:spPr/>
      <dgm:t>
        <a:bodyPr/>
        <a:lstStyle/>
        <a:p>
          <a:endParaRPr lang="en-US"/>
        </a:p>
      </dgm:t>
    </dgm:pt>
    <dgm:pt modelId="{80F10576-ECA7-45DD-BA1A-4549185237C2}" type="pres">
      <dgm:prSet presAssocID="{C6E0B97F-6EDF-49E6-AE5B-1757037D6CC9}" presName="root" presStyleCnt="0">
        <dgm:presLayoutVars>
          <dgm:dir/>
          <dgm:resizeHandles val="exact"/>
        </dgm:presLayoutVars>
      </dgm:prSet>
      <dgm:spPr/>
    </dgm:pt>
    <dgm:pt modelId="{8B6E62C7-40EC-4415-9D8D-E89DC3E2FD15}" type="pres">
      <dgm:prSet presAssocID="{C6E0B97F-6EDF-49E6-AE5B-1757037D6CC9}" presName="container" presStyleCnt="0">
        <dgm:presLayoutVars>
          <dgm:dir/>
          <dgm:resizeHandles val="exact"/>
        </dgm:presLayoutVars>
      </dgm:prSet>
      <dgm:spPr/>
    </dgm:pt>
    <dgm:pt modelId="{073EFAE1-40FA-4C14-8350-80BB2B338DCD}" type="pres">
      <dgm:prSet presAssocID="{55529E62-FBA0-4B79-8380-45E545A5CC6C}" presName="compNode" presStyleCnt="0"/>
      <dgm:spPr/>
    </dgm:pt>
    <dgm:pt modelId="{103735DB-CABC-4CA7-8BA7-89A345946621}" type="pres">
      <dgm:prSet presAssocID="{55529E62-FBA0-4B79-8380-45E545A5CC6C}" presName="iconBgRect" presStyleLbl="bgShp" presStyleIdx="0" presStyleCnt="4"/>
      <dgm:spPr/>
    </dgm:pt>
    <dgm:pt modelId="{83208086-A0F0-49E2-90BC-A06CFFEFC78C}" type="pres">
      <dgm:prSet presAssocID="{55529E62-FBA0-4B79-8380-45E545A5CC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E419299-6936-4261-9AF8-1BA2D1DAA9B4}" type="pres">
      <dgm:prSet presAssocID="{55529E62-FBA0-4B79-8380-45E545A5CC6C}" presName="spaceRect" presStyleCnt="0"/>
      <dgm:spPr/>
    </dgm:pt>
    <dgm:pt modelId="{28FB4240-DBB7-4FD1-9FC3-540A1F46EB29}" type="pres">
      <dgm:prSet presAssocID="{55529E62-FBA0-4B79-8380-45E545A5CC6C}" presName="textRect" presStyleLbl="revTx" presStyleIdx="0" presStyleCnt="4">
        <dgm:presLayoutVars>
          <dgm:chMax val="1"/>
          <dgm:chPref val="1"/>
        </dgm:presLayoutVars>
      </dgm:prSet>
      <dgm:spPr/>
    </dgm:pt>
    <dgm:pt modelId="{731AAA40-7594-4264-A24D-734ED374680C}" type="pres">
      <dgm:prSet presAssocID="{BEEDBDA7-113E-4F01-9FEE-6334AD6636FA}" presName="sibTrans" presStyleLbl="sibTrans2D1" presStyleIdx="0" presStyleCnt="0"/>
      <dgm:spPr/>
    </dgm:pt>
    <dgm:pt modelId="{7EFFC8E6-186C-4D24-AD9C-0724355C67B2}" type="pres">
      <dgm:prSet presAssocID="{6C78C1AD-3AC8-47A1-8969-B9D273AB67D3}" presName="compNode" presStyleCnt="0"/>
      <dgm:spPr/>
    </dgm:pt>
    <dgm:pt modelId="{26BB2B1E-76F7-4F1A-AC92-D4EF3E594FB0}" type="pres">
      <dgm:prSet presAssocID="{6C78C1AD-3AC8-47A1-8969-B9D273AB67D3}" presName="iconBgRect" presStyleLbl="bgShp" presStyleIdx="1" presStyleCnt="4"/>
      <dgm:spPr/>
    </dgm:pt>
    <dgm:pt modelId="{E88D916B-9178-40CA-9175-F685AC6AF681}" type="pres">
      <dgm:prSet presAssocID="{6C78C1AD-3AC8-47A1-8969-B9D273AB67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6AC3559-8D0A-41DC-A0F0-ACAA23281A71}" type="pres">
      <dgm:prSet presAssocID="{6C78C1AD-3AC8-47A1-8969-B9D273AB67D3}" presName="spaceRect" presStyleCnt="0"/>
      <dgm:spPr/>
    </dgm:pt>
    <dgm:pt modelId="{D4D2FC7B-B059-4F8C-B0BB-7121C07C99B1}" type="pres">
      <dgm:prSet presAssocID="{6C78C1AD-3AC8-47A1-8969-B9D273AB67D3}" presName="textRect" presStyleLbl="revTx" presStyleIdx="1" presStyleCnt="4">
        <dgm:presLayoutVars>
          <dgm:chMax val="1"/>
          <dgm:chPref val="1"/>
        </dgm:presLayoutVars>
      </dgm:prSet>
      <dgm:spPr/>
    </dgm:pt>
    <dgm:pt modelId="{31D5A52C-1DD2-4250-981F-613C3806B06B}" type="pres">
      <dgm:prSet presAssocID="{08011096-D2A3-41C8-9E0E-9B500E666881}" presName="sibTrans" presStyleLbl="sibTrans2D1" presStyleIdx="0" presStyleCnt="0"/>
      <dgm:spPr/>
    </dgm:pt>
    <dgm:pt modelId="{636F17A3-DD84-4216-956A-247AB687F999}" type="pres">
      <dgm:prSet presAssocID="{3AA779C4-5B67-4BC3-A7DC-BD643825FDB3}" presName="compNode" presStyleCnt="0"/>
      <dgm:spPr/>
    </dgm:pt>
    <dgm:pt modelId="{9252CA83-1F26-48B2-B79F-70371355CB3F}" type="pres">
      <dgm:prSet presAssocID="{3AA779C4-5B67-4BC3-A7DC-BD643825FDB3}" presName="iconBgRect" presStyleLbl="bgShp" presStyleIdx="2" presStyleCnt="4"/>
      <dgm:spPr/>
    </dgm:pt>
    <dgm:pt modelId="{93F8FBDE-2026-44F9-8DFF-C2C98106FC73}" type="pres">
      <dgm:prSet presAssocID="{3AA779C4-5B67-4BC3-A7DC-BD643825FD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1240357-A0D5-451C-8D88-1887BB96CDAA}" type="pres">
      <dgm:prSet presAssocID="{3AA779C4-5B67-4BC3-A7DC-BD643825FDB3}" presName="spaceRect" presStyleCnt="0"/>
      <dgm:spPr/>
    </dgm:pt>
    <dgm:pt modelId="{C014778E-5827-46CC-BC9D-5ECC3891BEFF}" type="pres">
      <dgm:prSet presAssocID="{3AA779C4-5B67-4BC3-A7DC-BD643825FDB3}" presName="textRect" presStyleLbl="revTx" presStyleIdx="2" presStyleCnt="4">
        <dgm:presLayoutVars>
          <dgm:chMax val="1"/>
          <dgm:chPref val="1"/>
        </dgm:presLayoutVars>
      </dgm:prSet>
      <dgm:spPr/>
    </dgm:pt>
    <dgm:pt modelId="{7AB24361-2775-4266-9483-6076DCD12F5A}" type="pres">
      <dgm:prSet presAssocID="{AD2B2EE0-E2C5-49AA-A0D1-31B6BBF6ACE4}" presName="sibTrans" presStyleLbl="sibTrans2D1" presStyleIdx="0" presStyleCnt="0"/>
      <dgm:spPr/>
    </dgm:pt>
    <dgm:pt modelId="{04A04107-5631-4D9C-810D-C1D837A6DD30}" type="pres">
      <dgm:prSet presAssocID="{D7C0D7FC-CD5A-4B80-B0A7-55C6AF90767E}" presName="compNode" presStyleCnt="0"/>
      <dgm:spPr/>
    </dgm:pt>
    <dgm:pt modelId="{40DB924C-069A-440C-BE65-437E7973C772}" type="pres">
      <dgm:prSet presAssocID="{D7C0D7FC-CD5A-4B80-B0A7-55C6AF90767E}" presName="iconBgRect" presStyleLbl="bgShp" presStyleIdx="3" presStyleCnt="4"/>
      <dgm:spPr/>
    </dgm:pt>
    <dgm:pt modelId="{A859AECD-9308-42D7-B9C7-249A98A33297}" type="pres">
      <dgm:prSet presAssocID="{D7C0D7FC-CD5A-4B80-B0A7-55C6AF90767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A2564EE2-C34E-4484-AF56-8768BB1DD1D1}" type="pres">
      <dgm:prSet presAssocID="{D7C0D7FC-CD5A-4B80-B0A7-55C6AF90767E}" presName="spaceRect" presStyleCnt="0"/>
      <dgm:spPr/>
    </dgm:pt>
    <dgm:pt modelId="{99C2A414-F125-4819-8FCA-CC415EFF6C32}" type="pres">
      <dgm:prSet presAssocID="{D7C0D7FC-CD5A-4B80-B0A7-55C6AF90767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782D04-6116-4773-AD7F-64CAC9B9E6EF}" type="presOf" srcId="{C6E0B97F-6EDF-49E6-AE5B-1757037D6CC9}" destId="{80F10576-ECA7-45DD-BA1A-4549185237C2}" srcOrd="0" destOrd="0" presId="urn:microsoft.com/office/officeart/2018/2/layout/IconCircleList"/>
    <dgm:cxn modelId="{9B493760-BF59-4D16-ACFE-BF789D082A86}" type="presOf" srcId="{55529E62-FBA0-4B79-8380-45E545A5CC6C}" destId="{28FB4240-DBB7-4FD1-9FC3-540A1F46EB29}" srcOrd="0" destOrd="0" presId="urn:microsoft.com/office/officeart/2018/2/layout/IconCircleList"/>
    <dgm:cxn modelId="{BF739562-985E-47FD-8094-3F272E3F9623}" srcId="{C6E0B97F-6EDF-49E6-AE5B-1757037D6CC9}" destId="{6C78C1AD-3AC8-47A1-8969-B9D273AB67D3}" srcOrd="1" destOrd="0" parTransId="{51B22D05-0B61-4C32-A3CB-5A7C9585E5CD}" sibTransId="{08011096-D2A3-41C8-9E0E-9B500E666881}"/>
    <dgm:cxn modelId="{668B8643-6BA4-4B99-B091-470709C14D72}" type="presOf" srcId="{6C78C1AD-3AC8-47A1-8969-B9D273AB67D3}" destId="{D4D2FC7B-B059-4F8C-B0BB-7121C07C99B1}" srcOrd="0" destOrd="0" presId="urn:microsoft.com/office/officeart/2018/2/layout/IconCircleList"/>
    <dgm:cxn modelId="{84D5BC45-77CE-410A-B2A7-DBA1DC3A9371}" type="presOf" srcId="{D7C0D7FC-CD5A-4B80-B0A7-55C6AF90767E}" destId="{99C2A414-F125-4819-8FCA-CC415EFF6C32}" srcOrd="0" destOrd="0" presId="urn:microsoft.com/office/officeart/2018/2/layout/IconCircleList"/>
    <dgm:cxn modelId="{FCA9C055-93C8-4BAB-B60C-F445DC32D468}" type="presOf" srcId="{3AA779C4-5B67-4BC3-A7DC-BD643825FDB3}" destId="{C014778E-5827-46CC-BC9D-5ECC3891BEFF}" srcOrd="0" destOrd="0" presId="urn:microsoft.com/office/officeart/2018/2/layout/IconCircleList"/>
    <dgm:cxn modelId="{8AED5E86-BD92-4AD5-A7C8-2BB0D6931393}" type="presOf" srcId="{AD2B2EE0-E2C5-49AA-A0D1-31B6BBF6ACE4}" destId="{7AB24361-2775-4266-9483-6076DCD12F5A}" srcOrd="0" destOrd="0" presId="urn:microsoft.com/office/officeart/2018/2/layout/IconCircleList"/>
    <dgm:cxn modelId="{79E4DAB2-3FCC-4F90-9AA0-B592CA9DCCA2}" srcId="{C6E0B97F-6EDF-49E6-AE5B-1757037D6CC9}" destId="{55529E62-FBA0-4B79-8380-45E545A5CC6C}" srcOrd="0" destOrd="0" parTransId="{DBB96101-C030-4925-86C8-84874E61A85A}" sibTransId="{BEEDBDA7-113E-4F01-9FEE-6334AD6636FA}"/>
    <dgm:cxn modelId="{94AAA5C0-7FCE-4AAC-9F6B-58119C913B86}" type="presOf" srcId="{08011096-D2A3-41C8-9E0E-9B500E666881}" destId="{31D5A52C-1DD2-4250-981F-613C3806B06B}" srcOrd="0" destOrd="0" presId="urn:microsoft.com/office/officeart/2018/2/layout/IconCircleList"/>
    <dgm:cxn modelId="{32CA84CD-B89A-4552-BB67-7B62B28160D9}" srcId="{C6E0B97F-6EDF-49E6-AE5B-1757037D6CC9}" destId="{D7C0D7FC-CD5A-4B80-B0A7-55C6AF90767E}" srcOrd="3" destOrd="0" parTransId="{F39BD226-4BD0-42AD-B63E-2CAFDE2AC928}" sibTransId="{7D76CC64-683D-495F-AB20-09C58B295FD2}"/>
    <dgm:cxn modelId="{0133E0D6-9C88-42AB-898E-734034433DB9}" srcId="{C6E0B97F-6EDF-49E6-AE5B-1757037D6CC9}" destId="{3AA779C4-5B67-4BC3-A7DC-BD643825FDB3}" srcOrd="2" destOrd="0" parTransId="{5747FD74-1401-48AC-A35D-8C57BE31DE90}" sibTransId="{AD2B2EE0-E2C5-49AA-A0D1-31B6BBF6ACE4}"/>
    <dgm:cxn modelId="{48D4A7E2-C755-4E78-9695-91064D47845A}" type="presOf" srcId="{BEEDBDA7-113E-4F01-9FEE-6334AD6636FA}" destId="{731AAA40-7594-4264-A24D-734ED374680C}" srcOrd="0" destOrd="0" presId="urn:microsoft.com/office/officeart/2018/2/layout/IconCircleList"/>
    <dgm:cxn modelId="{2B12BFDB-F5F8-4FEC-A065-A9E1AF6C5D9A}" type="presParOf" srcId="{80F10576-ECA7-45DD-BA1A-4549185237C2}" destId="{8B6E62C7-40EC-4415-9D8D-E89DC3E2FD15}" srcOrd="0" destOrd="0" presId="urn:microsoft.com/office/officeart/2018/2/layout/IconCircleList"/>
    <dgm:cxn modelId="{625B719A-F84D-4588-950D-C9CFEBE48D7A}" type="presParOf" srcId="{8B6E62C7-40EC-4415-9D8D-E89DC3E2FD15}" destId="{073EFAE1-40FA-4C14-8350-80BB2B338DCD}" srcOrd="0" destOrd="0" presId="urn:microsoft.com/office/officeart/2018/2/layout/IconCircleList"/>
    <dgm:cxn modelId="{9265989E-5637-40AC-B7D3-F7F96EB9E37A}" type="presParOf" srcId="{073EFAE1-40FA-4C14-8350-80BB2B338DCD}" destId="{103735DB-CABC-4CA7-8BA7-89A345946621}" srcOrd="0" destOrd="0" presId="urn:microsoft.com/office/officeart/2018/2/layout/IconCircleList"/>
    <dgm:cxn modelId="{027753C9-F290-4A1C-9A7E-AD4A4795BD04}" type="presParOf" srcId="{073EFAE1-40FA-4C14-8350-80BB2B338DCD}" destId="{83208086-A0F0-49E2-90BC-A06CFFEFC78C}" srcOrd="1" destOrd="0" presId="urn:microsoft.com/office/officeart/2018/2/layout/IconCircleList"/>
    <dgm:cxn modelId="{D8333C7A-E7B6-4227-8FB4-E49B63BF3190}" type="presParOf" srcId="{073EFAE1-40FA-4C14-8350-80BB2B338DCD}" destId="{1E419299-6936-4261-9AF8-1BA2D1DAA9B4}" srcOrd="2" destOrd="0" presId="urn:microsoft.com/office/officeart/2018/2/layout/IconCircleList"/>
    <dgm:cxn modelId="{454F035D-B513-4F43-8B58-4EC33DBE7911}" type="presParOf" srcId="{073EFAE1-40FA-4C14-8350-80BB2B338DCD}" destId="{28FB4240-DBB7-4FD1-9FC3-540A1F46EB29}" srcOrd="3" destOrd="0" presId="urn:microsoft.com/office/officeart/2018/2/layout/IconCircleList"/>
    <dgm:cxn modelId="{23AACA20-893B-4501-B088-E998AC277B76}" type="presParOf" srcId="{8B6E62C7-40EC-4415-9D8D-E89DC3E2FD15}" destId="{731AAA40-7594-4264-A24D-734ED374680C}" srcOrd="1" destOrd="0" presId="urn:microsoft.com/office/officeart/2018/2/layout/IconCircleList"/>
    <dgm:cxn modelId="{7B2E2653-E805-4C36-80AD-C0B7FD86D104}" type="presParOf" srcId="{8B6E62C7-40EC-4415-9D8D-E89DC3E2FD15}" destId="{7EFFC8E6-186C-4D24-AD9C-0724355C67B2}" srcOrd="2" destOrd="0" presId="urn:microsoft.com/office/officeart/2018/2/layout/IconCircleList"/>
    <dgm:cxn modelId="{84601BC6-D29C-402D-9E95-B26FEFE5E334}" type="presParOf" srcId="{7EFFC8E6-186C-4D24-AD9C-0724355C67B2}" destId="{26BB2B1E-76F7-4F1A-AC92-D4EF3E594FB0}" srcOrd="0" destOrd="0" presId="urn:microsoft.com/office/officeart/2018/2/layout/IconCircleList"/>
    <dgm:cxn modelId="{CB94E30C-7064-49B3-87B3-344067ACCDC3}" type="presParOf" srcId="{7EFFC8E6-186C-4D24-AD9C-0724355C67B2}" destId="{E88D916B-9178-40CA-9175-F685AC6AF681}" srcOrd="1" destOrd="0" presId="urn:microsoft.com/office/officeart/2018/2/layout/IconCircleList"/>
    <dgm:cxn modelId="{16B85BF3-306B-4C9E-A459-C50CA829243E}" type="presParOf" srcId="{7EFFC8E6-186C-4D24-AD9C-0724355C67B2}" destId="{06AC3559-8D0A-41DC-A0F0-ACAA23281A71}" srcOrd="2" destOrd="0" presId="urn:microsoft.com/office/officeart/2018/2/layout/IconCircleList"/>
    <dgm:cxn modelId="{61DE8072-45BF-4C3E-8074-FBA3EEF0D208}" type="presParOf" srcId="{7EFFC8E6-186C-4D24-AD9C-0724355C67B2}" destId="{D4D2FC7B-B059-4F8C-B0BB-7121C07C99B1}" srcOrd="3" destOrd="0" presId="urn:microsoft.com/office/officeart/2018/2/layout/IconCircleList"/>
    <dgm:cxn modelId="{BB077FD3-3EEB-4D1E-8E64-30367D157BEB}" type="presParOf" srcId="{8B6E62C7-40EC-4415-9D8D-E89DC3E2FD15}" destId="{31D5A52C-1DD2-4250-981F-613C3806B06B}" srcOrd="3" destOrd="0" presId="urn:microsoft.com/office/officeart/2018/2/layout/IconCircleList"/>
    <dgm:cxn modelId="{ABFDB0AF-29A6-4277-920E-D344C0656AA9}" type="presParOf" srcId="{8B6E62C7-40EC-4415-9D8D-E89DC3E2FD15}" destId="{636F17A3-DD84-4216-956A-247AB687F999}" srcOrd="4" destOrd="0" presId="urn:microsoft.com/office/officeart/2018/2/layout/IconCircleList"/>
    <dgm:cxn modelId="{305A08BE-29FB-4C07-9280-9DD863AB917E}" type="presParOf" srcId="{636F17A3-DD84-4216-956A-247AB687F999}" destId="{9252CA83-1F26-48B2-B79F-70371355CB3F}" srcOrd="0" destOrd="0" presId="urn:microsoft.com/office/officeart/2018/2/layout/IconCircleList"/>
    <dgm:cxn modelId="{1AE4ACED-4D1E-4140-A138-6CCD8CDD0855}" type="presParOf" srcId="{636F17A3-DD84-4216-956A-247AB687F999}" destId="{93F8FBDE-2026-44F9-8DFF-C2C98106FC73}" srcOrd="1" destOrd="0" presId="urn:microsoft.com/office/officeart/2018/2/layout/IconCircleList"/>
    <dgm:cxn modelId="{29E2D8E2-C0A6-420D-A458-921338CA45DC}" type="presParOf" srcId="{636F17A3-DD84-4216-956A-247AB687F999}" destId="{81240357-A0D5-451C-8D88-1887BB96CDAA}" srcOrd="2" destOrd="0" presId="urn:microsoft.com/office/officeart/2018/2/layout/IconCircleList"/>
    <dgm:cxn modelId="{E295E8A6-E77B-4927-A7B8-149DE5CB11E9}" type="presParOf" srcId="{636F17A3-DD84-4216-956A-247AB687F999}" destId="{C014778E-5827-46CC-BC9D-5ECC3891BEFF}" srcOrd="3" destOrd="0" presId="urn:microsoft.com/office/officeart/2018/2/layout/IconCircleList"/>
    <dgm:cxn modelId="{A961941F-498C-4DEC-A7A2-D259882F139C}" type="presParOf" srcId="{8B6E62C7-40EC-4415-9D8D-E89DC3E2FD15}" destId="{7AB24361-2775-4266-9483-6076DCD12F5A}" srcOrd="5" destOrd="0" presId="urn:microsoft.com/office/officeart/2018/2/layout/IconCircleList"/>
    <dgm:cxn modelId="{89D2C25C-98E9-4A43-8A21-5AE81BA8D65B}" type="presParOf" srcId="{8B6E62C7-40EC-4415-9D8D-E89DC3E2FD15}" destId="{04A04107-5631-4D9C-810D-C1D837A6DD30}" srcOrd="6" destOrd="0" presId="urn:microsoft.com/office/officeart/2018/2/layout/IconCircleList"/>
    <dgm:cxn modelId="{B9B3B28B-736E-4E1E-9BC2-F05EE962F206}" type="presParOf" srcId="{04A04107-5631-4D9C-810D-C1D837A6DD30}" destId="{40DB924C-069A-440C-BE65-437E7973C772}" srcOrd="0" destOrd="0" presId="urn:microsoft.com/office/officeart/2018/2/layout/IconCircleList"/>
    <dgm:cxn modelId="{97844781-6B54-4DD3-9FE0-FB31F142EBA3}" type="presParOf" srcId="{04A04107-5631-4D9C-810D-C1D837A6DD30}" destId="{A859AECD-9308-42D7-B9C7-249A98A33297}" srcOrd="1" destOrd="0" presId="urn:microsoft.com/office/officeart/2018/2/layout/IconCircleList"/>
    <dgm:cxn modelId="{A86BC0AE-173B-468C-B496-596164E837FC}" type="presParOf" srcId="{04A04107-5631-4D9C-810D-C1D837A6DD30}" destId="{A2564EE2-C34E-4484-AF56-8768BB1DD1D1}" srcOrd="2" destOrd="0" presId="urn:microsoft.com/office/officeart/2018/2/layout/IconCircleList"/>
    <dgm:cxn modelId="{1F3976F7-9B93-4BEF-BEB7-E88DFF07FD6F}" type="presParOf" srcId="{04A04107-5631-4D9C-810D-C1D837A6DD30}" destId="{99C2A414-F125-4819-8FCA-CC415EFF6C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25841-B1A1-4A9A-87DB-B31C7C5F7667}">
      <dsp:nvSpPr>
        <dsp:cNvPr id="0" name=""/>
        <dsp:cNvSpPr/>
      </dsp:nvSpPr>
      <dsp:spPr>
        <a:xfrm>
          <a:off x="0" y="633945"/>
          <a:ext cx="5175384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Pager rotation assigns team members to respond to system alerts and incidents outside regular hours.</a:t>
          </a:r>
        </a:p>
      </dsp:txBody>
      <dsp:txXfrm>
        <a:off x="67110" y="701055"/>
        <a:ext cx="5041164" cy="1240530"/>
      </dsp:txXfrm>
    </dsp:sp>
    <dsp:sp modelId="{5A8F869A-C57A-4BB9-910A-91CD61A0CF6B}">
      <dsp:nvSpPr>
        <dsp:cNvPr id="0" name=""/>
        <dsp:cNvSpPr/>
      </dsp:nvSpPr>
      <dsp:spPr>
        <a:xfrm>
          <a:off x="0" y="2080695"/>
          <a:ext cx="5175384" cy="137475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ensures 24/7 system monitoring, enabling fast issue resolution.</a:t>
          </a:r>
        </a:p>
      </dsp:txBody>
      <dsp:txXfrm>
        <a:off x="67110" y="2147805"/>
        <a:ext cx="5041164" cy="1240530"/>
      </dsp:txXfrm>
    </dsp:sp>
    <dsp:sp modelId="{9CEAB49A-DB70-490C-9D95-E3A671DBE8F1}">
      <dsp:nvSpPr>
        <dsp:cNvPr id="0" name=""/>
        <dsp:cNvSpPr/>
      </dsp:nvSpPr>
      <dsp:spPr>
        <a:xfrm>
          <a:off x="0" y="3527445"/>
          <a:ext cx="5175384" cy="137475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Pager duties are critical in DevOps to maintain system reliability and customer satisfaction.</a:t>
          </a:r>
        </a:p>
      </dsp:txBody>
      <dsp:txXfrm>
        <a:off x="67110" y="3594555"/>
        <a:ext cx="5041164" cy="1240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735DB-CABC-4CA7-8BA7-89A345946621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208086-A0F0-49E2-90BC-A06CFFEFC78C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B4240-DBB7-4FD1-9FC3-540A1F46EB29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 the length and frequency of on-call shifts to reduce fatigue.</a:t>
          </a:r>
        </a:p>
      </dsp:txBody>
      <dsp:txXfrm>
        <a:off x="1340173" y="795493"/>
        <a:ext cx="2552269" cy="1082781"/>
      </dsp:txXfrm>
    </dsp:sp>
    <dsp:sp modelId="{26BB2B1E-76F7-4F1A-AC92-D4EF3E594FB0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D916B-9178-40CA-9175-F685AC6AF681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2FC7B-B059-4F8C-B0BB-7121C07C99B1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 compensations like time off or bonuses for on-call duties.</a:t>
          </a:r>
        </a:p>
      </dsp:txBody>
      <dsp:txXfrm>
        <a:off x="5651962" y="795493"/>
        <a:ext cx="2552269" cy="1082781"/>
      </dsp:txXfrm>
    </dsp:sp>
    <dsp:sp modelId="{9252CA83-1F26-48B2-B79F-70371355CB3F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8FBDE-2026-44F9-8DFF-C2C98106FC7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4778E-5827-46CC-BC9D-5ECC3891BEFF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 alert filtering to avoid unnecessary or repeated notifications.</a:t>
          </a:r>
        </a:p>
      </dsp:txBody>
      <dsp:txXfrm>
        <a:off x="1340173" y="2647688"/>
        <a:ext cx="2552269" cy="1082781"/>
      </dsp:txXfrm>
    </dsp:sp>
    <dsp:sp modelId="{40DB924C-069A-440C-BE65-437E7973C772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9AECD-9308-42D7-B9C7-249A98A33297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2A414-F125-4819-8FCA-CC415EFF6C32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Encourage team communication and provide support during stressful incidents.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.com/how-to-run-a-remote-gameday/" TargetMode="External"/><Relationship Id="rId2" Type="http://schemas.openxmlformats.org/officeDocument/2006/relationships/hyperlink" Target="https://www.pagerduty.com/platform/automation/?utm_source=google&amp;utm_medium=cpc&amp;utm_source_platform=gads&amp;campaign_id=18959717690&amp;adgroup_id=146444398289&amp;creative_id=635814439624&amp;utm_campaign=grow-revenue_demand&amp;utm_creative_format=&amp;utm_content=nam_lg_process-automation_kwd-847302855065&amp;utm_term=pagerduty%20automation&amp;utm_marketing_tactic=t-i&amp;cq_src=google_ads&amp;cq_cmp=18959717690&amp;cq_con=146444398289&amp;cq_term=pagerduty%20automation&amp;cq_med=&amp;cq_plac=&amp;cq_net=g&amp;cq_plt=gp&amp;gad_source=1&amp;gad_campaignid=18959717690&amp;gbraid=0AAAAADrfZWMYkbeSxACBsfCgXSG5rVGoJ&amp;gclid=Cj0KCQjwvajDBhCNARIsAEE29Wo3WnKtPMcLgb8ktD2-zLtpYallhNXTFbwvfxb-21dVnYwBXVI8ZZMaAnwvEALw_wc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088" y="0"/>
            <a:ext cx="7177823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9037" y="955309"/>
            <a:ext cx="5305926" cy="2898975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Pager Rotation Duties in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6187" y="4533813"/>
            <a:ext cx="5197641" cy="9384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Amit Rizal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Assignment Number: CSD-380 Module 7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Date:7/5/2025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Introduction to Pager Rotation Duties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A5CD24-FE01-0972-B6C5-7A2EB49714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88952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Objectives of Pager Rotation</a:t>
            </a:r>
          </a:p>
        </p:txBody>
      </p:sp>
      <p:pic>
        <p:nvPicPr>
          <p:cNvPr id="7" name="Picture 6" descr="A blue wall clock showing the time 11:59">
            <a:extLst>
              <a:ext uri="{FF2B5EF4-FFF2-40B4-BE49-F238E27FC236}">
                <a16:creationId xmlns:a16="http://schemas.microsoft.com/office/drawing/2014/main" id="{BD2A0135-6B39-0641-1845-CED8A34C1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1" r="50016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endParaRPr lang="en-US" sz="1700" dirty="0"/>
          </a:p>
          <a:p>
            <a:pPr>
              <a:defRPr sz="1800"/>
            </a:pPr>
            <a:r>
              <a:rPr lang="en-US" sz="1700" dirty="0"/>
              <a:t>Provide continuous incident coverage around the clock.</a:t>
            </a:r>
          </a:p>
          <a:p>
            <a:pPr>
              <a:defRPr sz="1800"/>
            </a:pPr>
            <a:r>
              <a:rPr lang="en-US" sz="1700" dirty="0"/>
              <a:t>Distribute on-call responsibilities fairly to prevent burnout.</a:t>
            </a:r>
          </a:p>
          <a:p>
            <a:pPr>
              <a:defRPr sz="1800"/>
            </a:pPr>
            <a:r>
              <a:rPr lang="en-US" sz="1700" dirty="0"/>
              <a:t>Maintain quick and effective response times to minimize downtime.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266449" cy="1616203"/>
          </a:xfrm>
        </p:spPr>
        <p:txBody>
          <a:bodyPr anchor="b">
            <a:normAutofit/>
          </a:bodyPr>
          <a:lstStyle/>
          <a:p>
            <a:r>
              <a:rPr lang="en-US" sz="2800"/>
              <a:t>Best Practices for Pager Rotation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266448" cy="344783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Create a fair, transparent, and predictable on-call schedule (weekly or daily rotations).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Automate alert routing using tools like PagerDuty or Opsgenie.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Develop clear escalation policies and detailed runbooks for incident handling.</a:t>
            </a:r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Monitor and balance workload to reduce alert fatigue and burnout.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CAFC908-51DD-71C5-870E-7F6105122F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93" r="23607"/>
          <a:stretch>
            <a:fillRect/>
          </a:stretch>
        </p:blipFill>
        <p:spPr>
          <a:xfrm>
            <a:off x="4572000" y="10"/>
            <a:ext cx="457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82135" y="3792161"/>
            <a:ext cx="1559464" cy="4579735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1580" y="-3760"/>
            <a:ext cx="1632418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572000" y="5502302"/>
            <a:ext cx="4579735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0169" y="2939627"/>
            <a:ext cx="2372181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000"/>
              <a:t>Tools and Automation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en-US" sz="1900"/>
          </a:p>
          <a:p>
            <a:pPr>
              <a:defRPr sz="1800"/>
            </a:pPr>
            <a:r>
              <a:rPr lang="en-US" sz="1900"/>
              <a:t>Popular incident management platforms:</a:t>
            </a:r>
          </a:p>
          <a:p>
            <a:pPr>
              <a:defRPr sz="1800"/>
            </a:pPr>
            <a:r>
              <a:rPr lang="en-US" sz="1900"/>
              <a:t>  - PagerDuty</a:t>
            </a:r>
          </a:p>
          <a:p>
            <a:pPr>
              <a:defRPr sz="1800"/>
            </a:pPr>
            <a:r>
              <a:rPr lang="en-US" sz="1900"/>
              <a:t>  - Opsgenie</a:t>
            </a:r>
          </a:p>
          <a:p>
            <a:pPr>
              <a:defRPr sz="1800"/>
            </a:pPr>
            <a:r>
              <a:rPr lang="en-US" sz="1900"/>
              <a:t>  - VictorOps</a:t>
            </a:r>
          </a:p>
          <a:p>
            <a:pPr>
              <a:defRPr sz="1800"/>
            </a:pPr>
            <a:r>
              <a:rPr lang="en-US" sz="1900"/>
              <a:t>Integrate monitoring tools (Prometheus, New Relic) for automated alert generation.</a:t>
            </a:r>
          </a:p>
          <a:p>
            <a:pPr>
              <a:defRPr sz="1800"/>
            </a:pPr>
            <a:r>
              <a:rPr lang="en-US" sz="1900"/>
              <a:t>Use analytics to track response times and improve rotation schedules.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Burnout and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065EBB-BCEB-7269-8D70-11246D10B7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 dirty="0"/>
              <a:t>Summary and 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pPr>
              <a:defRPr sz="1800"/>
            </a:pPr>
            <a:r>
              <a:rPr lang="en-US" sz="1700" dirty="0"/>
              <a:t>Pager rotation is essential for 24/7 reliability in DevOps.</a:t>
            </a:r>
          </a:p>
          <a:p>
            <a:pPr>
              <a:defRPr sz="1800"/>
            </a:pPr>
            <a:r>
              <a:rPr lang="en-US" sz="1700" dirty="0"/>
              <a:t>Fair scheduling, automation, and clear processes improve efficiency and morale.</a:t>
            </a:r>
          </a:p>
          <a:p>
            <a:pPr>
              <a:defRPr sz="1800"/>
            </a:pPr>
            <a:r>
              <a:rPr lang="en-US" sz="1700" dirty="0"/>
              <a:t>Continuous review of rotation policies reduces burnout and improves response.</a:t>
            </a:r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References:</a:t>
            </a:r>
          </a:p>
          <a:p>
            <a:pPr marL="0" indent="0">
              <a:buNone/>
              <a:defRPr sz="1800"/>
            </a:pPr>
            <a:r>
              <a:rPr lang="en-US" sz="1700" dirty="0">
                <a:hlinkClick r:id="rId2"/>
              </a:rPr>
              <a:t>PagerDuty. (n.d.). On-Call Best Practices. </a:t>
            </a:r>
            <a:br>
              <a:rPr lang="en-US" sz="1700" dirty="0"/>
            </a:br>
            <a:r>
              <a:rPr lang="en-US" sz="1600" dirty="0">
                <a:hlinkClick r:id="rId3"/>
              </a:rPr>
              <a:t>DevOps.com — How to Run a Remote Gameday (includes on-call best practices)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303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Aharoni</vt:lpstr>
      <vt:lpstr>Arial</vt:lpstr>
      <vt:lpstr>Calibri</vt:lpstr>
      <vt:lpstr>Office Theme</vt:lpstr>
      <vt:lpstr>Pager Rotation Duties in DevOps</vt:lpstr>
      <vt:lpstr>Introduction to Pager Rotation Duties</vt:lpstr>
      <vt:lpstr>Objectives of Pager Rotation</vt:lpstr>
      <vt:lpstr>Best Practices for Pager Rotation in DevOps</vt:lpstr>
      <vt:lpstr>Tools and Automation</vt:lpstr>
      <vt:lpstr>Managing Burnout and Challenges</vt:lpstr>
      <vt:lpstr>Summary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Rizal</dc:creator>
  <cp:keywords/>
  <dc:description>generated using python-pptx</dc:description>
  <cp:lastModifiedBy>Amit Rizal</cp:lastModifiedBy>
  <cp:revision>3</cp:revision>
  <dcterms:created xsi:type="dcterms:W3CDTF">2013-01-27T09:14:16Z</dcterms:created>
  <dcterms:modified xsi:type="dcterms:W3CDTF">2025-07-06T17:32:35Z</dcterms:modified>
  <cp:category/>
</cp:coreProperties>
</file>